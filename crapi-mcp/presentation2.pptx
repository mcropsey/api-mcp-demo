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421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cropsey/api-mcp-lab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SECURING THE AI FOUNDATION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7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Cropsey  |  Security Solution Architect, Akamai Technologies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3739896" cy="2377440"/>
          </a:xfrm>
          <a:prstGeom prst="roundRect">
            <a:avLst>
              <a:gd name="adj" fmla="val 2692"/>
            </a:avLst>
          </a:prstGeom>
          <a:solidFill>
            <a:srgbClr val="161B22"/>
          </a:solidFill>
          <a:ln w="12700">
            <a:solidFill>
              <a:srgbClr val="C03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83464" y="841248"/>
            <a:ext cx="3721608" cy="274320"/>
          </a:xfrm>
          <a:prstGeom prst="rect">
            <a:avLst/>
          </a:prstGeom>
          <a:solidFill>
            <a:srgbClr val="C0394B"/>
          </a:solidFill>
          <a:ln w="12700">
            <a:solidFill>
              <a:srgbClr val="C03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841248"/>
            <a:ext cx="3410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2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PROBLEM  —  Speed vs. Infrastructure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197864"/>
            <a:ext cx="34107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B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 a supercar. Your existing APIs are the roads.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5B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roads are full of potholes, adding a faster car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5B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means you crash faster."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" y="1920240"/>
            <a:ext cx="1668780" cy="201168"/>
          </a:xfrm>
          <a:prstGeom prst="rect">
            <a:avLst/>
          </a:prstGeom>
          <a:solidFill>
            <a:srgbClr val="1E27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920240"/>
            <a:ext cx="16687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(Manual)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80844" y="1920240"/>
            <a:ext cx="1668780" cy="201168"/>
          </a:xfrm>
          <a:prstGeom prst="rect">
            <a:avLst/>
          </a:prstGeom>
          <a:solidFill>
            <a:srgbClr val="C0394B"/>
          </a:solidFill>
          <a:ln w="12700">
            <a:solidFill>
              <a:srgbClr val="C03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80844" y="1920240"/>
            <a:ext cx="16687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(AI-Powered)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2176272"/>
            <a:ext cx="16687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▪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click at a time</a:t>
            </a:r>
            <a:endParaRPr lang="en-US" sz="900" dirty="0"/>
          </a:p>
          <a:p>
            <a:pPr marL="342900" indent="-342900" algn="l">
              <a:buSzPct val="100000"/>
              <a:buChar char="▪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 takes hours</a:t>
            </a:r>
            <a:endParaRPr lang="en-US" sz="900" dirty="0"/>
          </a:p>
          <a:p>
            <a:pPr marL="342900" indent="-342900" algn="l">
              <a:buSzPct val="100000"/>
              <a:buChar char="▪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easy to spot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80844" y="2176272"/>
            <a:ext cx="16687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▪"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 of API calls per second</a:t>
            </a:r>
            <a:endParaRPr lang="en-US" sz="900" dirty="0"/>
          </a:p>
          <a:p>
            <a:pPr marL="342900" indent="-342900" algn="l">
              <a:buSzPct val="100000"/>
              <a:buChar char="▪"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BOLA in milliseconds</a:t>
            </a:r>
            <a:endParaRPr lang="en-US" sz="900" dirty="0"/>
          </a:p>
          <a:p>
            <a:pPr marL="342900" indent="-342900" algn="l">
              <a:buSzPct val="100000"/>
              <a:buChar char="▪"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normal traffic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69664" y="841248"/>
            <a:ext cx="3739896" cy="2377440"/>
          </a:xfrm>
          <a:prstGeom prst="roundRect">
            <a:avLst>
              <a:gd name="adj" fmla="val 2692"/>
            </a:avLst>
          </a:prstGeom>
          <a:solidFill>
            <a:srgbClr val="161B22"/>
          </a:solidFill>
          <a:ln w="12700">
            <a:solidFill>
              <a:srgbClr val="E8A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78808" y="841248"/>
            <a:ext cx="3721608" cy="274320"/>
          </a:xfrm>
          <a:prstGeom prst="rect">
            <a:avLst/>
          </a:prstGeom>
          <a:solidFill>
            <a:srgbClr val="E8AF34"/>
          </a:solidFill>
          <a:ln w="12700">
            <a:solidFill>
              <a:srgbClr val="E8A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34256" y="841248"/>
            <a:ext cx="3410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2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AI-DRIVEN RISK REALITIES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34256" y="116128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C03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5660136" y="1161288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suffered an API security incident last year — a 4-year high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34256" y="2167128"/>
            <a:ext cx="341071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34256" y="2203704"/>
            <a:ext cx="1325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8AF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5660136" y="2203704"/>
            <a:ext cx="20848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security incidents directly linked to AI-powered APIs &amp; agents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65008" y="841248"/>
            <a:ext cx="3739896" cy="2377440"/>
          </a:xfrm>
          <a:prstGeom prst="roundRect">
            <a:avLst>
              <a:gd name="adj" fmla="val 2692"/>
            </a:avLst>
          </a:prstGeom>
          <a:solidFill>
            <a:srgbClr val="161B22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74152" y="841248"/>
            <a:ext cx="3721608" cy="27432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0" y="841248"/>
            <a:ext cx="3410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2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PILLARS OF TRUE AI-API SECURITY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0" y="1252728"/>
            <a:ext cx="237744" cy="237744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0" y="1252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22208" y="1234440"/>
            <a:ext cx="3118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BA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1508760"/>
            <a:ext cx="3364992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know every API exists? Shadow &amp; zombie APIs are invisible attack surfaces — you cannot protect what you cannot see.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1859280"/>
            <a:ext cx="3319272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29600" y="1923288"/>
            <a:ext cx="237744" cy="237744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1923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22208" y="1905000"/>
            <a:ext cx="3118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BA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2179320"/>
            <a:ext cx="3364992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returning only what the client needs? Full data objects dumped into LLM context windows can be exfiltrated.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29600" y="2529840"/>
            <a:ext cx="3319272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229600" y="2593848"/>
            <a:ext cx="237744" cy="237744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0" y="25938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22208" y="2575560"/>
            <a:ext cx="3118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BA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2849880"/>
            <a:ext cx="3364992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token own this resource? Token presence does not equal ownership. Most flaws live in that gap.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310128"/>
            <a:ext cx="3739896" cy="32004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83464" y="3310128"/>
            <a:ext cx="3721608" cy="274320"/>
          </a:xfrm>
          <a:prstGeom prst="rect">
            <a:avLst/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8912" y="3310128"/>
            <a:ext cx="3410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BA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SECURITY ILLUSION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8912" y="3675888"/>
            <a:ext cx="3410712" cy="719328"/>
          </a:xfrm>
          <a:prstGeom prst="roundRect">
            <a:avLst>
              <a:gd name="adj" fmla="val 6356"/>
            </a:avLst>
          </a:prstGeom>
          <a:solidFill>
            <a:srgbClr val="1E2733"/>
          </a:solidFill>
          <a:ln w="12700">
            <a:solidFill>
              <a:srgbClr val="5BB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" y="3730752"/>
            <a:ext cx="3191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BA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LOBBY  (Perimeter Defense)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3968496"/>
            <a:ext cx="3191256" cy="390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Firewalls &amp; Gateways authenticate identities and filter prompts at the edge.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8912" y="4440936"/>
            <a:ext cx="3410712" cy="719328"/>
          </a:xfrm>
          <a:prstGeom prst="roundRect">
            <a:avLst>
              <a:gd name="adj" fmla="val 6356"/>
            </a:avLst>
          </a:prstGeom>
          <a:solidFill>
            <a:srgbClr val="1E2733"/>
          </a:solidFill>
          <a:ln w="12700">
            <a:solidFill>
              <a:srgbClr val="C03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" y="4495800"/>
            <a:ext cx="3191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3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INTERIOR DOORS  (True Vulnerability)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4733544"/>
            <a:ext cx="3191256" cy="390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inside, automated requests roam freely — interior APIs lack real-time resource ownership checks.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8912" y="5205984"/>
            <a:ext cx="3410712" cy="719328"/>
          </a:xfrm>
          <a:prstGeom prst="roundRect">
            <a:avLst>
              <a:gd name="adj" fmla="val 6356"/>
            </a:avLst>
          </a:prstGeom>
          <a:solidFill>
            <a:srgbClr val="1E2733"/>
          </a:solidFill>
          <a:ln w="12700">
            <a:solidFill>
              <a:srgbClr val="E8A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8640" y="5260848"/>
            <a:ext cx="3191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AF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 MYTH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5498592"/>
            <a:ext cx="3191256" cy="390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to 50 records/sec vs 10,000 only slows the bleed — it does NOT fix the broken lock.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8912" y="5961888"/>
            <a:ext cx="3410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gap: AI Firewalls, API Gateways, LLM Security, SIEM, and CSPM all fail to validate live data authorization.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69664" y="3310128"/>
            <a:ext cx="7744968" cy="32004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178808" y="3310128"/>
            <a:ext cx="7726680" cy="27432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334256" y="3310128"/>
            <a:ext cx="7415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2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UNBREAKABLE LOOP  —  4 GATES ON EVERY REQUEST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06824" y="3712464"/>
            <a:ext cx="1812798" cy="1591056"/>
          </a:xfrm>
          <a:prstGeom prst="roundRect">
            <a:avLst>
              <a:gd name="adj" fmla="val 4023"/>
            </a:avLst>
          </a:prstGeom>
          <a:solidFill>
            <a:srgbClr val="1E2733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975479" y="3840480"/>
            <a:ext cx="475488" cy="475488"/>
          </a:xfrm>
          <a:prstGeom prst="ellipse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75479" y="3840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2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398264" y="4370832"/>
            <a:ext cx="16299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 CHECK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398264" y="4663440"/>
            <a:ext cx="16299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token OWN this resource?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92774" y="3712464"/>
            <a:ext cx="1812798" cy="1591056"/>
          </a:xfrm>
          <a:prstGeom prst="roundRect">
            <a:avLst>
              <a:gd name="adj" fmla="val 4023"/>
            </a:avLst>
          </a:prstGeom>
          <a:solidFill>
            <a:srgbClr val="1E2733"/>
          </a:solidFill>
          <a:ln w="12700">
            <a:solidFill>
              <a:srgbClr val="5BB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861429" y="3840480"/>
            <a:ext cx="475488" cy="475488"/>
          </a:xfrm>
          <a:prstGeom prst="ellipse">
            <a:avLst/>
          </a:prstGeom>
          <a:solidFill>
            <a:srgbClr val="5BBAC7"/>
          </a:solidFill>
          <a:ln w="12700">
            <a:solidFill>
              <a:srgbClr val="5BB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61429" y="3840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2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84214" y="4370832"/>
            <a:ext cx="16299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BA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CHECK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84214" y="4663440"/>
            <a:ext cx="16299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role have ACCESS to this function?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078724" y="3712464"/>
            <a:ext cx="1812798" cy="1591056"/>
          </a:xfrm>
          <a:prstGeom prst="roundRect">
            <a:avLst>
              <a:gd name="adj" fmla="val 4023"/>
            </a:avLst>
          </a:prstGeom>
          <a:solidFill>
            <a:srgbClr val="1E2733"/>
          </a:solidFill>
          <a:ln w="12700">
            <a:solidFill>
              <a:srgbClr val="E8A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747379" y="3840480"/>
            <a:ext cx="475488" cy="475488"/>
          </a:xfrm>
          <a:prstGeom prst="ellipse">
            <a:avLst/>
          </a:prstGeom>
          <a:solidFill>
            <a:srgbClr val="E8AF34"/>
          </a:solidFill>
          <a:ln w="12700">
            <a:solidFill>
              <a:srgbClr val="E8A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747379" y="3840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2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170164" y="4370832"/>
            <a:ext cx="16299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F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MINIMIZATION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70164" y="4663440"/>
            <a:ext cx="16299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returning ONLY what the client needs?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964674" y="3712464"/>
            <a:ext cx="1812798" cy="1591056"/>
          </a:xfrm>
          <a:prstGeom prst="roundRect">
            <a:avLst>
              <a:gd name="adj" fmla="val 4023"/>
            </a:avLst>
          </a:prstGeom>
          <a:solidFill>
            <a:srgbClr val="1E2733"/>
          </a:solidFill>
          <a:ln w="12700">
            <a:solidFill>
              <a:srgbClr val="C03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633329" y="3840480"/>
            <a:ext cx="475488" cy="475488"/>
          </a:xfrm>
          <a:prstGeom prst="ellipse">
            <a:avLst/>
          </a:prstGeom>
          <a:solidFill>
            <a:srgbClr val="C0394B"/>
          </a:solidFill>
          <a:ln w="12700">
            <a:solidFill>
              <a:srgbClr val="C03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633329" y="3840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2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056114" y="4370832"/>
            <a:ext cx="16299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VALIDATION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056114" y="4663440"/>
            <a:ext cx="16299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VALIDATING everything sent to us?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306824" y="5394960"/>
            <a:ext cx="7470648" cy="457200"/>
          </a:xfrm>
          <a:prstGeom prst="roundRect">
            <a:avLst>
              <a:gd name="adj" fmla="val 12000"/>
            </a:avLst>
          </a:prstGeom>
          <a:solidFill>
            <a:srgbClr val="180810"/>
          </a:solidFill>
          <a:ln w="12700">
            <a:solidFill>
              <a:srgbClr val="C03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443984" y="5394960"/>
            <a:ext cx="7196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GATE FAILS  →  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dropped immediately  •  Returns </a:t>
            </a:r>
            <a:r>
              <a:rPr lang="en-US" sz="1000" b="1" dirty="0">
                <a:solidFill>
                  <a:srgbClr val="E8A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</a:t>
            </a: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Attack stopped instantly — not slowed, STOPPED.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306824" y="5943600"/>
            <a:ext cx="7470648" cy="438912"/>
          </a:xfrm>
          <a:prstGeom prst="roundRect">
            <a:avLst>
              <a:gd name="adj" fmla="val 12500"/>
            </a:avLst>
          </a:prstGeom>
          <a:solidFill>
            <a:srgbClr val="1E2733"/>
          </a:solidFill>
          <a:ln w="12700">
            <a:solidFill>
              <a:srgbClr val="208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489704" y="5943600"/>
            <a:ext cx="7104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BOLA, data overexposure &amp; MCP enumeration in your own environment — open-source lab: </a:t>
            </a:r>
            <a:r>
              <a:rPr lang="en-US" sz="1000" b="1" u="sng" dirty="0">
                <a:solidFill>
                  <a:srgbClr val="5BBAC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github.com/mcropsey/api-mcp-labs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0" y="6601968"/>
            <a:ext cx="12188952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20040" y="662025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API Security Briefing  © 2026 Akamai Technologies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400800" y="662025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396</Words>
  <Application>Microsoft Macintosh PowerPoint</Application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Cropsey, Michael</cp:lastModifiedBy>
  <cp:revision>1</cp:revision>
  <dcterms:created xsi:type="dcterms:W3CDTF">2026-06-09T16:29:38Z</dcterms:created>
  <dcterms:modified xsi:type="dcterms:W3CDTF">2026-06-09T17:39:29Z</dcterms:modified>
</cp:coreProperties>
</file>